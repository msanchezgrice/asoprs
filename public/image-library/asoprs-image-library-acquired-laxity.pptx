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06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6583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06E5F"/>
                </a:solidFill>
                <a:latin typeface="Aptos"/>
              </a:rPr>
              <a:t>ASOPRS IMAGE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987552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 Display"/>
              </a:rPr>
              <a:t>Acquired Laxity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78608"/>
            <a:ext cx="777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9DEE8"/>
                </a:solidFill>
                <a:latin typeface="Aptos"/>
              </a:rPr>
              <a:t>7 resources · 24 figures · curriculum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8BD"/>
                </a:solidFill>
                <a:latin typeface="Aptos"/>
              </a:rPr>
              <a:t>Review draft · Section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Blepharochalasis Syndrome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1 · Page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blepharochalasis-syndrome-figur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33383"/>
            <a:ext cx="6492240" cy="3511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1. Blepharochalasis. Courtesy Rona Z. Silkiss, MD, FACS.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Eyelid-Eyebrow/Blepharochalasis Syndrome.pdf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Floppy Eyelid Syndrome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1 · Page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floppy-eyelid-syndrome-figur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16615"/>
            <a:ext cx="6492240" cy="29448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1. Floppy eyelid syndrome.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Eyelid-Eyebrow/Floppy Eyelid Syndrome.pdf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Floppy Eyelid Syndrome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2 · Page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floppy-eyelid-syndrome-figur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50177"/>
            <a:ext cx="6492240" cy="4277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2. 2–3-mm incisions perpendicular to the lateral canthal angle and curvilinear lid crease incision.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Eyelid-Eyebrow/Floppy Eyelid Syndrome.pdf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Floppy Eyelid Syndrome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3 · Page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floppy-eyelid-syndrome-figure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75742"/>
            <a:ext cx="6492240" cy="24265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3. Pentagonal excision of posterior lamella.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Eyelid-Eyebrow/Floppy Eyelid Syndrome.pdf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Floppy Eyelid Syndrome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4 · Page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floppy-eyelid-syndrome-figure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502" y="1188720"/>
            <a:ext cx="5107155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4. Elevation of lid margin.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Eyelid-Eyebrow/Floppy Eyelid Syndrome.pdf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Horizontal Eyelid Tightening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1 · Page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horizontal-eyelid-tightening-figur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39148"/>
            <a:ext cx="6492240" cy="26997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1. Fixation of the lower lid to the intact superior lateral canthal tendon.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Eyelid-Eyebrow/Horizontal Eyelid Tightening.pdf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Horizontal Eyelid Tightening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2 · Page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horizontal-eyelid-tightening-figur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50502"/>
            <a:ext cx="6492240" cy="20770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2. Formation of the lateral tarsal strip (from Anderson and Gordy 1979).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Eyelid-Eyebrow/Horizontal Eyelid Tightening.pdf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Horizontal Eyelid Tightening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3 · Page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horizontal-eyelid-tightening-figure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94956"/>
            <a:ext cx="6492240" cy="27881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3. Marking of the Z-plasty.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Eyelid-Eyebrow/Horizontal Eyelid Tightening.pdf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Horizontal Eyelid Tightening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4 · Page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horizontal-eyelid-tightening-figure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55" y="1188720"/>
            <a:ext cx="6390449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4. En bloc elevation of lateral canthus via subperiosteal dissection and placement of permanent suture through the canthal body.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Eyelid-Eyebrow/Horizontal Eyelid Tightening.pdf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Lateral and Medial Canthoplasty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1 · Page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lateral-and-medial-canthoplasty-figur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31635"/>
            <a:ext cx="6492240" cy="43147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1. Involutional right lower lid ectropion.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Eyelid-Eyebrow/Lateral and Medial Canthoplasty.pdf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Lateral and Medial Canthoplasty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2 · Page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lateral-and-medial-canthoplasty-figur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096" y="1188720"/>
            <a:ext cx="3945966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2. Lateral tarsal strip procedure. From Nerad JA, Techniques in Ophthalmic Plastic Surgery, 2010.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Eyelid-Eyebrow/Lateral and Medial Canthoplasty.pdf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Lateral and Medial Canthoplasty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3 · Page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lateral-and-medial-canthoplasty-figure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141" y="1188720"/>
            <a:ext cx="3655876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3. Kuhnt-Szymanowski procedure. From Callahan A. Reconstructive Surgery of the Eyelids and Ocular Adnexa, 1966.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Eyelid-Eyebrow/Lateral and Medial Canthoplasty.pdf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Lower Eyelid Blepharoplasty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1 · Page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lower-eyelid-blepharoplasty-figur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80196"/>
            <a:ext cx="6492240" cy="22176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B1426"/>
                </a:solidFill>
                <a:latin typeface="Aptos"/>
              </a:rPr>
              <a:t>Figure 1. Positive, neutral, and negative vectors. A vertical line is drawn from the center of the pupil to the infraorbital rim. Patients with a positive vector have anterior projection of the rim, whereas those with a negative vector have anterior projection of the globe compared with the rim.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Eyelid-Eyebrow/Lower Eyelid Blepharoplasty.pdf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Periorbital Hollows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1 · Page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periorbital-hollows-figur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653" y="1188720"/>
            <a:ext cx="5716853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1. Aging changes are characterized by deflation, with loss of volume along the superior and inferior orbital rim.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Eyelid-Eyebrow/Periorbital Hollows.pdf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Periorbital Hollows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2 · Page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periorbital-hollows-figur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538" y="1188720"/>
            <a:ext cx="5391083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B1426"/>
                </a:solidFill>
                <a:latin typeface="Aptos"/>
              </a:rPr>
              <a:t>Figure 2. This patient has some fullness of the inferior orbital fat and might be improved with fat removal, but a more natural and effective rejuvenation recognizes and treats the periorbital hollows. Blue: orbital rim hollow. Purple: zygomatic hollow. Green: septal confluence hollow.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Eyelid-Eyebrow/Periorbital Hollows.pdf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Periorbital Hollows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3 · Page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periorbital-hollows-figure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024" y="1188720"/>
            <a:ext cx="5406111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3. Volume loss occurs in areas of deep ligamentous attachments from bone to skin, particularly the orbital rim ligament (blue) and zygomatic ligament (purple).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Eyelid-Eyebrow/Periorbital Hollows.pdf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Periorbital Hollows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4 · Page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periorbital-hollows-figure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010" y="1188720"/>
            <a:ext cx="6226139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4. The malar triangle is a potential space that can fill with boggy edema, bound by the orbital rim ligament (blue) and the zygomatic ligament (purple).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Eyelid-Eyebrow/Periorbital Hollows.pdf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Periorbital Hollows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5 · Page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periorbital-hollows-figure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03076"/>
            <a:ext cx="6492240" cy="45718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5. Filling the superior orbital hollow. A 39-year-old woman with a hollow superior orbital rim, before and after 1 mL Restylane filling.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Eyelid-Eyebrow/Periorbital Hollows.pdf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Periorbital Hollows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6 · Page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periorbital-hollows-figure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251" y="1188720"/>
            <a:ext cx="2293656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B1426"/>
                </a:solidFill>
                <a:latin typeface="Aptos"/>
              </a:rPr>
              <a:t>Figure 6. The lateral ‘Charlie Brown’ hollow forms between the lateral orbital fat pad and adjacent malar fat. Upper: debulking the puffy lateral fat pad with blepharoplasty improves the contour, here combined with midface lift. Lower: another option is conservative, feathered filling of the hollow.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Eyelid-Eyebrow/Periorbital Hollows.pdf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Periorbital Hollows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7 · Page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periorbital-hollows-figure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94694"/>
            <a:ext cx="6492240" cy="1988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7. Patient before and after filling the periorbital hollows, with 1 mL Restylane split between the sides. Blue: orbital rim hollow. Purple: zygomatic hollow.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Eyelid-Eyebrow/Periorbital Hollows.pdf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Periorbital Hollows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8 · Page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periorbital-hollows-figure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26397"/>
            <a:ext cx="6492240" cy="21252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8. Blue grey dyschromia, 2 years after periorbital hyaluronic acid gel injections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Eyelid-Eyebrow/Periorbital Hollows.pdf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Periorbital Hollows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9 · Page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periorbital-hollows-figure-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58798"/>
            <a:ext cx="6492240" cy="28604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9 Late boggy edema, 1 year after periorbital hyaluronic acid gel injections.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Eyelid-Eyebrow/Periorbital Hollows.pdf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Upper Eyelid Blepharoplasty- Cosmetic and Functional Surgery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1 · Page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upper-eyelid-blepharoplasty-cosmetic-and-functional-surgery-figur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88801"/>
            <a:ext cx="6492240" cy="2200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1. Before and after upper trapezoidal blepharoplasty to create a double eyelid in an East Asian patient. Courtesy Robert Fante, 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Eyelid-Eyebrow/Upper Eyelid Blepharoplasty- Cosmetic and Functional Surgery.pdf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1426"/>
                </a:solidFill>
                <a:latin typeface="Aptos Display"/>
              </a:rPr>
              <a:t>Upper Eyelid Blepharoplasty- Cosmetic and Functional Surgery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411480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6E5F"/>
                </a:solidFill>
                <a:latin typeface="Aptos"/>
              </a:rPr>
              <a:t>Figure 2 · Page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858000" cy="5166360"/>
          </a:xfrm>
          <a:prstGeom prst="roundRect">
            <a:avLst/>
          </a:prstGeom>
          <a:solidFill>
            <a:srgbClr val="F7F4EE"/>
          </a:solidFill>
          <a:ln>
            <a:solidFill>
              <a:srgbClr val="E9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yelid-eyebrow-upper-eyelid-blepharoplasty-cosmetic-and-functional-surgery-figur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31893"/>
            <a:ext cx="6492240" cy="23142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1887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6E5F"/>
                </a:solidFill>
                <a:latin typeface="Aptos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18488"/>
            <a:ext cx="3429000" cy="3520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426"/>
                </a:solidFill>
                <a:latin typeface="Aptos"/>
              </a:rPr>
              <a:t>Figure 2. Before and after upper blepharoplasty in a Caucasian patient using lid-crease fixation. Courtesy Robert Fante, 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715000"/>
            <a:ext cx="3429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7085"/>
                </a:solidFill>
                <a:latin typeface="Aptos"/>
              </a:rPr>
              <a:t>Source: Eyelid-Eyebrow/Upper Eyelid Blepharoplasty- Cosmetic and Functional Surgery.pdf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ASOPRS Image Library — Acquired Laxity</dc:title>
  <dc:subject>Acquired Laxity image library</dc:subject>
  <dc:creator>ASOPRS Study Portal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